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548640"/>
            <a:ext cx="4297680" cy="4297680"/>
          </a:xfrm>
          <a:prstGeom prst="ellipse">
            <a:avLst/>
          </a:prstGeom>
          <a:solidFill>
            <a:srgbClr val="196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326880" y="320040"/>
            <a:ext cx="2743200" cy="2743200"/>
          </a:xfrm>
          <a:prstGeom prst="ellipse">
            <a:avLst/>
          </a:prstGeom>
          <a:solidFill>
            <a:srgbClr val="2C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012680" y="1005840"/>
            <a:ext cx="1371600" cy="1371600"/>
          </a:xfrm>
          <a:prstGeom prst="ellipse">
            <a:avLst/>
          </a:prstGeom>
          <a:solidFill>
            <a:srgbClr val="EC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351008" y="1344168"/>
            <a:ext cx="694944" cy="694944"/>
          </a:xfrm>
          <a:prstGeom prst="ellipse">
            <a:avLst/>
          </a:prstGeom>
          <a:solidFill>
            <a:srgbClr val="196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731520"/>
            <a:ext cx="66751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2CBECD"/>
                </a:solidFill>
                <a:latin typeface="Aptos"/>
              </a:rPr>
              <a:t>AI FOR SUSTAINABLE WATER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298448"/>
            <a:ext cx="7498079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Aptos"/>
              </a:rPr>
              <a:t>AquaPredict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2212848"/>
            <a:ext cx="704088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2200" b="0">
                <a:solidFill>
                  <a:srgbClr val="D7EFF5"/>
                </a:solidFill>
                <a:latin typeface="Aptos"/>
              </a:rPr>
              <a:t>Smart Water Prediction &amp; Management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971800"/>
            <a:ext cx="6583680" cy="914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An AI-powered concept to help communities anticipate water demand, spot unusual usage, and reduce avoidable waste.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" y="4343400"/>
            <a:ext cx="4251960" cy="658368"/>
          </a:xfrm>
          <a:prstGeom prst="roundRect">
            <a:avLst/>
          </a:prstGeom>
          <a:solidFill>
            <a:srgbClr val="173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553712"/>
            <a:ext cx="3749039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2CBECD"/>
                </a:solidFill>
                <a:latin typeface="Aptos"/>
              </a:rPr>
              <a:t>IDEA DECK  •  6 SLIDES MAX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6080760"/>
            <a:ext cx="76809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D7EFF5"/>
                </a:solidFill>
                <a:latin typeface="Aptos"/>
              </a:rPr>
              <a:t>Team: [Add team name]     Members: [Add names]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309360"/>
            <a:ext cx="9144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D7EFF5"/>
                </a:solidFill>
                <a:latin typeface="Apto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7772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>
                <a:solidFill>
                  <a:srgbClr val="1969A0"/>
                </a:solidFill>
                <a:latin typeface="Aptos"/>
              </a:rPr>
              <a:t>01 • 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2700" b="1">
                <a:solidFill>
                  <a:srgbClr val="0D233A"/>
                </a:solidFill>
                <a:latin typeface="Aptos"/>
              </a:rPr>
              <a:t>Water management is often reactive—not predictive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777240" cy="50292"/>
          </a:xfrm>
          <a:prstGeom prst="rect">
            <a:avLst/>
          </a:prstGeom>
          <a:solidFill>
            <a:srgbClr val="2C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07040" y="384048"/>
            <a:ext cx="914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5B6E7D"/>
                </a:solidFill>
                <a:latin typeface="Aptos"/>
              </a:rPr>
              <a:t>02  /  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600200"/>
            <a:ext cx="1060704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900" b="0">
                <a:solidFill>
                  <a:srgbClr val="22303D"/>
                </a:solidFill>
                <a:latin typeface="Aptos"/>
              </a:rPr>
              <a:t>Many communities, campuses, and facilities struggle to understand how much water they will need and where waste may be happening.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743200"/>
            <a:ext cx="3429000" cy="187451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743200"/>
            <a:ext cx="3429000" cy="109728"/>
          </a:xfrm>
          <a:prstGeom prst="rect">
            <a:avLst/>
          </a:prstGeom>
          <a:solidFill>
            <a:srgbClr val="196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063240"/>
            <a:ext cx="29718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D233A"/>
                </a:solidFill>
                <a:latin typeface="Aptos"/>
              </a:rPr>
              <a:t>UNPREDICTABLE DEMAND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520440"/>
            <a:ext cx="297180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5B6E7D"/>
                </a:solidFill>
                <a:latin typeface="Aptos"/>
              </a:rPr>
              <a:t>Usage changes by day, season, occupancy, and weather.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2743200"/>
            <a:ext cx="3429000" cy="187451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60" y="2743200"/>
            <a:ext cx="3429000" cy="109728"/>
          </a:xfrm>
          <a:prstGeom prst="rect">
            <a:avLst/>
          </a:prstGeom>
          <a:solidFill>
            <a:srgbClr val="3FA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60" y="3063240"/>
            <a:ext cx="29718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D233A"/>
                </a:solidFill>
                <a:latin typeface="Aptos"/>
              </a:rPr>
              <a:t>HIDDEN WASTE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3520440"/>
            <a:ext cx="297180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5B6E7D"/>
                </a:solidFill>
                <a:latin typeface="Aptos"/>
              </a:rPr>
              <a:t>Leaks or unusual consumption can go unnoticed until bills or shortages rise.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75320" y="2743200"/>
            <a:ext cx="3429000" cy="187451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75320" y="2743200"/>
            <a:ext cx="3429000" cy="109728"/>
          </a:xfrm>
          <a:prstGeom prst="rect">
            <a:avLst/>
          </a:prstGeom>
          <a:solidFill>
            <a:srgbClr val="F5B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0" y="3063240"/>
            <a:ext cx="29718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D233A"/>
                </a:solidFill>
                <a:latin typeface="Aptos"/>
              </a:rPr>
              <a:t>LATE DECISIONS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3520440"/>
            <a:ext cx="297180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5B6E7D"/>
                </a:solidFill>
                <a:latin typeface="Aptos"/>
              </a:rPr>
              <a:t>Without a simple forecast, teams may react after a shortage or overflow occurs.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5212080"/>
            <a:ext cx="1060704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2100" b="1">
                <a:solidFill>
                  <a:srgbClr val="1969A0"/>
                </a:solidFill>
                <a:latin typeface="Aptos"/>
              </a:rPr>
              <a:t>Opportunity: turn usage data into earlier, clearer decisions.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5B6E7D"/>
                </a:solidFill>
                <a:latin typeface="Aptos"/>
              </a:rPr>
              <a:t>AquaPredict AI  •  Hackathon Idea Deck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7772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>
                <a:solidFill>
                  <a:srgbClr val="1969A0"/>
                </a:solidFill>
                <a:latin typeface="Aptos"/>
              </a:rPr>
              <a:t>02 • PROPOSED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2700" b="1">
                <a:solidFill>
                  <a:srgbClr val="0D233A"/>
                </a:solidFill>
                <a:latin typeface="Aptos"/>
              </a:rPr>
              <a:t>AquaPredict AI: forecast, flag, and inform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777240" cy="50292"/>
          </a:xfrm>
          <a:prstGeom prst="rect">
            <a:avLst/>
          </a:prstGeom>
          <a:solidFill>
            <a:srgbClr val="2C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07040" y="384048"/>
            <a:ext cx="914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5B6E7D"/>
                </a:solidFill>
                <a:latin typeface="Aptos"/>
              </a:rPr>
              <a:t>03  /  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600200"/>
            <a:ext cx="1078992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800" b="0">
                <a:solidFill>
                  <a:srgbClr val="22303D"/>
                </a:solidFill>
                <a:latin typeface="Aptos"/>
              </a:rPr>
              <a:t>A lightweight dashboard that uses historical water-use data and contextual inputs to estimate future demand and highlight unusual patterns.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743200"/>
            <a:ext cx="2542032" cy="2057400"/>
          </a:xfrm>
          <a:prstGeom prst="roundRect">
            <a:avLst/>
          </a:prstGeom>
          <a:solidFill>
            <a:srgbClr val="EC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944368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2000" b="1">
                <a:solidFill>
                  <a:srgbClr val="2CBECD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429000"/>
            <a:ext cx="21031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D233A"/>
                </a:solidFill>
                <a:latin typeface="Aptos"/>
              </a:rPr>
              <a:t>COLLECT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840480"/>
            <a:ext cx="2121408" cy="7315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0">
                <a:solidFill>
                  <a:srgbClr val="5B6E7D"/>
                </a:solidFill>
                <a:latin typeface="Aptos"/>
              </a:rPr>
              <a:t>Water-use history, date, occupancy, and optional weather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18687" y="3520440"/>
            <a:ext cx="27432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1969A0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20439" y="2743200"/>
            <a:ext cx="2542032" cy="2057400"/>
          </a:xfrm>
          <a:prstGeom prst="roundRect">
            <a:avLst/>
          </a:prstGeom>
          <a:solidFill>
            <a:srgbClr val="EC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21607" y="2944368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2000" b="1">
                <a:solidFill>
                  <a:srgbClr val="2CBECD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21607" y="3429000"/>
            <a:ext cx="21031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D233A"/>
                </a:solidFill>
                <a:latin typeface="Aptos"/>
              </a:rPr>
              <a:t>PREDICT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21607" y="3840480"/>
            <a:ext cx="2121408" cy="7315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0">
                <a:solidFill>
                  <a:srgbClr val="5B6E7D"/>
                </a:solidFill>
                <a:latin typeface="Aptos"/>
              </a:rPr>
              <a:t>Estimate upcoming daily or weekly water demand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9048" y="3520440"/>
            <a:ext cx="27432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1969A0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2743200"/>
            <a:ext cx="2542032" cy="2057400"/>
          </a:xfrm>
          <a:prstGeom prst="roundRect">
            <a:avLst/>
          </a:prstGeom>
          <a:solidFill>
            <a:srgbClr val="EC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01968" y="2944368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2000" b="1">
                <a:solidFill>
                  <a:srgbClr val="2CBECD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1968" y="3429000"/>
            <a:ext cx="21031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D233A"/>
                </a:solidFill>
                <a:latin typeface="Aptos"/>
              </a:rPr>
              <a:t>DETECT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1968" y="3840480"/>
            <a:ext cx="2121408" cy="7315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0">
                <a:solidFill>
                  <a:srgbClr val="5B6E7D"/>
                </a:solidFill>
                <a:latin typeface="Aptos"/>
              </a:rPr>
              <a:t>Flag readings that differ significantly from normal usage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79408" y="3520440"/>
            <a:ext cx="27432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1969A0"/>
                </a:solidFill>
                <a:latin typeface="Aptos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81159" y="2743200"/>
            <a:ext cx="2542032" cy="2057400"/>
          </a:xfrm>
          <a:prstGeom prst="roundRect">
            <a:avLst/>
          </a:prstGeom>
          <a:solidFill>
            <a:srgbClr val="EC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82328" y="2944368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2000" b="1">
                <a:solidFill>
                  <a:srgbClr val="2CBECD"/>
                </a:solidFill>
                <a:latin typeface="Apto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82328" y="3429000"/>
            <a:ext cx="21031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D233A"/>
                </a:solidFill>
                <a:latin typeface="Aptos"/>
              </a:rPr>
              <a:t>RECOMMEND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82328" y="3840480"/>
            <a:ext cx="2121408" cy="7315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0">
                <a:solidFill>
                  <a:srgbClr val="5B6E7D"/>
                </a:solidFill>
                <a:latin typeface="Aptos"/>
              </a:rPr>
              <a:t>Show practical actions: inspect a leak, review demand, or conserve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5303520"/>
            <a:ext cx="1078992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0">
                <a:solidFill>
                  <a:srgbClr val="5B6E7D"/>
                </a:solidFill>
                <a:latin typeface="Aptos"/>
              </a:rPr>
              <a:t>Designed as a decision-support tool—not a replacement for physical inspections or expert judgment.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5B6E7D"/>
                </a:solidFill>
                <a:latin typeface="Aptos"/>
              </a:rPr>
              <a:t>AquaPredict AI  •  Hackathon Idea Deck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7772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>
                <a:solidFill>
                  <a:srgbClr val="1969A0"/>
                </a:solidFill>
                <a:latin typeface="Aptos"/>
              </a:rPr>
              <a:t>03 • CORE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2700" b="1">
                <a:solidFill>
                  <a:srgbClr val="0D233A"/>
                </a:solidFill>
                <a:latin typeface="Aptos"/>
              </a:rPr>
              <a:t>Useful insights without a complicated setup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777240" cy="50292"/>
          </a:xfrm>
          <a:prstGeom prst="rect">
            <a:avLst/>
          </a:prstGeom>
          <a:solidFill>
            <a:srgbClr val="2C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07040" y="384048"/>
            <a:ext cx="914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5B6E7D"/>
                </a:solidFill>
                <a:latin typeface="Aptos"/>
              </a:rPr>
              <a:t>04  /  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24612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2688" y="1911095"/>
            <a:ext cx="320040" cy="320040"/>
          </a:xfrm>
          <a:prstGeom prst="ellipse">
            <a:avLst/>
          </a:prstGeom>
          <a:solidFill>
            <a:srgbClr val="2C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89888" y="1892808"/>
            <a:ext cx="23317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0D233A"/>
                </a:solidFill>
                <a:latin typeface="Aptos"/>
              </a:rPr>
              <a:t>Demand forecast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350008"/>
            <a:ext cx="27432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0">
                <a:solidFill>
                  <a:srgbClr val="5B6E7D"/>
                </a:solidFill>
                <a:latin typeface="Aptos"/>
              </a:rPr>
              <a:t>Daily/weekly usage estimate from historical readings.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691640"/>
            <a:ext cx="324612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44568" y="1911095"/>
            <a:ext cx="320040" cy="320040"/>
          </a:xfrm>
          <a:prstGeom prst="ellipse">
            <a:avLst/>
          </a:prstGeom>
          <a:solidFill>
            <a:srgbClr val="2C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1768" y="1892808"/>
            <a:ext cx="23317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0D233A"/>
                </a:solidFill>
                <a:latin typeface="Aptos"/>
              </a:rPr>
              <a:t>Anomaly alerts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350008"/>
            <a:ext cx="27432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0">
                <a:solidFill>
                  <a:srgbClr val="5B6E7D"/>
                </a:solidFill>
                <a:latin typeface="Aptos"/>
              </a:rPr>
              <a:t>Highlight unusually high or low consumption for review.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1691640"/>
            <a:ext cx="324612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156448" y="1911095"/>
            <a:ext cx="320040" cy="320040"/>
          </a:xfrm>
          <a:prstGeom prst="ellipse">
            <a:avLst/>
          </a:prstGeom>
          <a:solidFill>
            <a:srgbClr val="2C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13648" y="1892808"/>
            <a:ext cx="23317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0D233A"/>
                </a:solidFill>
                <a:latin typeface="Aptos"/>
              </a:rPr>
              <a:t>Usage dashboard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79" y="2350008"/>
            <a:ext cx="27432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0">
                <a:solidFill>
                  <a:srgbClr val="5B6E7D"/>
                </a:solidFill>
                <a:latin typeface="Aptos"/>
              </a:rPr>
              <a:t>Charts for trends, peak periods, and comparisons.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657600"/>
            <a:ext cx="324612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32688" y="3877056"/>
            <a:ext cx="320040" cy="320040"/>
          </a:xfrm>
          <a:prstGeom prst="ellipse">
            <a:avLst/>
          </a:prstGeom>
          <a:solidFill>
            <a:srgbClr val="2C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89888" y="3858768"/>
            <a:ext cx="23317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0D233A"/>
                </a:solidFill>
                <a:latin typeface="Aptos"/>
              </a:rPr>
              <a:t>Conservation tips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315968"/>
            <a:ext cx="27432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0">
                <a:solidFill>
                  <a:srgbClr val="5B6E7D"/>
                </a:solidFill>
                <a:latin typeface="Aptos"/>
              </a:rPr>
              <a:t>Simple next steps based on the pattern detected.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3657600"/>
            <a:ext cx="324612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544568" y="3877056"/>
            <a:ext cx="320040" cy="320040"/>
          </a:xfrm>
          <a:prstGeom prst="ellipse">
            <a:avLst/>
          </a:prstGeom>
          <a:solidFill>
            <a:srgbClr val="2C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01768" y="3858768"/>
            <a:ext cx="23317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0D233A"/>
                </a:solidFill>
                <a:latin typeface="Aptos"/>
              </a:rPr>
              <a:t>Data upload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4315968"/>
            <a:ext cx="27432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0">
                <a:solidFill>
                  <a:srgbClr val="5B6E7D"/>
                </a:solidFill>
                <a:latin typeface="Aptos"/>
              </a:rPr>
              <a:t>Start with a CSV file; sensor integration can come later.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55279" y="3657600"/>
            <a:ext cx="324612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156448" y="3877056"/>
            <a:ext cx="320040" cy="320040"/>
          </a:xfrm>
          <a:prstGeom prst="ellipse">
            <a:avLst/>
          </a:prstGeom>
          <a:solidFill>
            <a:srgbClr val="2C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13648" y="3858768"/>
            <a:ext cx="23317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0D233A"/>
                </a:solidFill>
                <a:latin typeface="Aptos"/>
              </a:rPr>
              <a:t>Explainable results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83879" y="4315968"/>
            <a:ext cx="27432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0">
                <a:solidFill>
                  <a:srgbClr val="5B6E7D"/>
                </a:solidFill>
                <a:latin typeface="Aptos"/>
              </a:rPr>
              <a:t>Show the trend and reason behind each alert where possible.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5B6E7D"/>
                </a:solidFill>
                <a:latin typeface="Aptos"/>
              </a:rPr>
              <a:t>AquaPredict AI  •  Hackathon Idea Deck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7772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>
                <a:solidFill>
                  <a:srgbClr val="1969A0"/>
                </a:solidFill>
                <a:latin typeface="Aptos"/>
              </a:rPr>
              <a:t>04 • BUILD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2700" b="1">
                <a:solidFill>
                  <a:srgbClr val="0D233A"/>
                </a:solidFill>
                <a:latin typeface="Aptos"/>
              </a:rPr>
              <a:t>A practical MVP with accessible tools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777240" cy="50292"/>
          </a:xfrm>
          <a:prstGeom prst="rect">
            <a:avLst/>
          </a:prstGeom>
          <a:solidFill>
            <a:srgbClr val="2C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07040" y="384048"/>
            <a:ext cx="914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5B6E7D"/>
                </a:solidFill>
                <a:latin typeface="Aptos"/>
              </a:rPr>
              <a:t>05  /  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91640"/>
            <a:ext cx="5212080" cy="4251960"/>
          </a:xfrm>
          <a:prstGeom prst="roundRect">
            <a:avLst/>
          </a:prstGeom>
          <a:solidFill>
            <a:srgbClr val="EC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65960"/>
            <a:ext cx="44805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1969A0"/>
                </a:solidFill>
                <a:latin typeface="Aptos"/>
              </a:rPr>
              <a:t>DATA → MODEL → DASHBOARD</a:t>
            </a:r>
          </a:p>
        </p:txBody>
      </p:sp>
      <p:sp>
        <p:nvSpPr>
          <p:cNvPr id="8" name="Oval 7"/>
          <p:cNvSpPr/>
          <p:nvPr/>
        </p:nvSpPr>
        <p:spPr>
          <a:xfrm>
            <a:off x="987552" y="2532888"/>
            <a:ext cx="256032" cy="256032"/>
          </a:xfrm>
          <a:prstGeom prst="ellipse">
            <a:avLst/>
          </a:prstGeom>
          <a:solidFill>
            <a:srgbClr val="2C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17320" y="2514600"/>
            <a:ext cx="9144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D233A"/>
                </a:solidFill>
                <a:latin typeface="Aptos"/>
              </a:rPr>
              <a:t>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514600"/>
            <a:ext cx="315468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5B6E7D"/>
                </a:solidFill>
                <a:latin typeface="Aptos"/>
              </a:rPr>
              <a:t>Sample CSV: date, water usage, site/area</a:t>
            </a:r>
          </a:p>
        </p:txBody>
      </p:sp>
      <p:sp>
        <p:nvSpPr>
          <p:cNvPr id="11" name="Oval 10"/>
          <p:cNvSpPr/>
          <p:nvPr/>
        </p:nvSpPr>
        <p:spPr>
          <a:xfrm>
            <a:off x="987552" y="3127248"/>
            <a:ext cx="256032" cy="256032"/>
          </a:xfrm>
          <a:prstGeom prst="ellipse">
            <a:avLst/>
          </a:prstGeom>
          <a:solidFill>
            <a:srgbClr val="2C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17320" y="3108960"/>
            <a:ext cx="9144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D233A"/>
                </a:solidFill>
                <a:latin typeface="Aptos"/>
              </a:rPr>
              <a:t>Prepare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31720" y="3108960"/>
            <a:ext cx="315468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5B6E7D"/>
                </a:solidFill>
                <a:latin typeface="Aptos"/>
              </a:rPr>
              <a:t>Clean missing values and create time-based features</a:t>
            </a:r>
          </a:p>
        </p:txBody>
      </p:sp>
      <p:sp>
        <p:nvSpPr>
          <p:cNvPr id="14" name="Oval 13"/>
          <p:cNvSpPr/>
          <p:nvPr/>
        </p:nvSpPr>
        <p:spPr>
          <a:xfrm>
            <a:off x="987552" y="3721607"/>
            <a:ext cx="256032" cy="256032"/>
          </a:xfrm>
          <a:prstGeom prst="ellipse">
            <a:avLst/>
          </a:prstGeom>
          <a:solidFill>
            <a:srgbClr val="2C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17320" y="3703320"/>
            <a:ext cx="9144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D233A"/>
                </a:solidFill>
                <a:latin typeface="Aptos"/>
              </a:rPr>
              <a:t>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31720" y="3703320"/>
            <a:ext cx="315468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5B6E7D"/>
                </a:solidFill>
                <a:latin typeface="Aptos"/>
              </a:rPr>
              <a:t>Baseline forecast with moving average or scikit-learn</a:t>
            </a:r>
          </a:p>
        </p:txBody>
      </p:sp>
      <p:sp>
        <p:nvSpPr>
          <p:cNvPr id="17" name="Oval 16"/>
          <p:cNvSpPr/>
          <p:nvPr/>
        </p:nvSpPr>
        <p:spPr>
          <a:xfrm>
            <a:off x="987552" y="4315968"/>
            <a:ext cx="256032" cy="256032"/>
          </a:xfrm>
          <a:prstGeom prst="ellipse">
            <a:avLst/>
          </a:prstGeom>
          <a:solidFill>
            <a:srgbClr val="2C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17320" y="4297680"/>
            <a:ext cx="9144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D233A"/>
                </a:solidFill>
                <a:latin typeface="Aptos"/>
              </a:rPr>
              <a:t>Flag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31720" y="4297680"/>
            <a:ext cx="315468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5B6E7D"/>
                </a:solidFill>
                <a:latin typeface="Aptos"/>
              </a:rPr>
              <a:t>Compare observed use against expected range</a:t>
            </a:r>
          </a:p>
        </p:txBody>
      </p:sp>
      <p:sp>
        <p:nvSpPr>
          <p:cNvPr id="20" name="Oval 19"/>
          <p:cNvSpPr/>
          <p:nvPr/>
        </p:nvSpPr>
        <p:spPr>
          <a:xfrm>
            <a:off x="987552" y="4910327"/>
            <a:ext cx="256032" cy="256032"/>
          </a:xfrm>
          <a:prstGeom prst="ellipse">
            <a:avLst/>
          </a:prstGeom>
          <a:solidFill>
            <a:srgbClr val="3FA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17320" y="4892040"/>
            <a:ext cx="9144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D233A"/>
                </a:solidFill>
                <a:latin typeface="Aptos"/>
              </a:rPr>
              <a:t>Display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31720" y="4892040"/>
            <a:ext cx="315468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5B6E7D"/>
                </a:solidFill>
                <a:latin typeface="Aptos"/>
              </a:rPr>
              <a:t>Streamlit dashboard with charts and alerts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1828800"/>
            <a:ext cx="46634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1969A0"/>
                </a:solidFill>
                <a:latin typeface="Aptos"/>
              </a:rPr>
              <a:t>PROPOSED TECH STACK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331720"/>
            <a:ext cx="187451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D233A"/>
                </a:solidFill>
                <a:latin typeface="Aptos"/>
              </a:rPr>
              <a:t>Python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2331720"/>
            <a:ext cx="30632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5B6E7D"/>
                </a:solidFill>
                <a:latin typeface="Aptos"/>
              </a:rPr>
              <a:t>Core logic and data processing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2862072"/>
            <a:ext cx="187451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D233A"/>
                </a:solidFill>
                <a:latin typeface="Aptos"/>
              </a:rPr>
              <a:t>Pandas + NumPy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2862072"/>
            <a:ext cx="30632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5B6E7D"/>
                </a:solidFill>
                <a:latin typeface="Aptos"/>
              </a:rPr>
              <a:t>Clean and analyze water-use data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392424"/>
            <a:ext cx="187451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D233A"/>
                </a:solidFill>
                <a:latin typeface="Aptos"/>
              </a:rPr>
              <a:t>scikit-learn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3392424"/>
            <a:ext cx="30632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5B6E7D"/>
                </a:solidFill>
                <a:latin typeface="Aptos"/>
              </a:rPr>
              <a:t>Baseline forecasting / anomaly logic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3922775"/>
            <a:ext cx="187451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D233A"/>
                </a:solidFill>
                <a:latin typeface="Aptos"/>
              </a:rPr>
              <a:t>Streamlit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3922775"/>
            <a:ext cx="30632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5B6E7D"/>
                </a:solidFill>
                <a:latin typeface="Aptos"/>
              </a:rPr>
              <a:t>Interactive web dashboard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4453127"/>
            <a:ext cx="187451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D233A"/>
                </a:solidFill>
                <a:latin typeface="Aptos"/>
              </a:rPr>
              <a:t>Matplotlib / Plotly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4453127"/>
            <a:ext cx="30632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5B6E7D"/>
                </a:solidFill>
                <a:latin typeface="Aptos"/>
              </a:rPr>
              <a:t>Usage and forecast visualizations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983479"/>
            <a:ext cx="187451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D233A"/>
                </a:solidFill>
                <a:latin typeface="Aptos"/>
              </a:rPr>
              <a:t>CSV / optional database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4983479"/>
            <a:ext cx="30632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5B6E7D"/>
                </a:solidFill>
                <a:latin typeface="Aptos"/>
              </a:rPr>
              <a:t>Simple storage for the MVP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5623560"/>
            <a:ext cx="475488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3FA678"/>
                </a:solidFill>
                <a:latin typeface="Aptos"/>
              </a:rPr>
              <a:t>MVP assumption: begin with sample or manually uploaded data; live sensors are a later phase.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5B6E7D"/>
                </a:solidFill>
                <a:latin typeface="Aptos"/>
              </a:rPr>
              <a:t>AquaPredict AI  •  Hackathon Idea Deck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45720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>
                <a:solidFill>
                  <a:srgbClr val="2CBECD"/>
                </a:solidFill>
                <a:latin typeface="Aptos"/>
              </a:rPr>
              <a:t>05 • EXPECTED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789920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Aptos"/>
              </a:rPr>
              <a:t>Make water decisions earlier—and smarter.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2057400"/>
            <a:ext cx="3337560" cy="1371600"/>
          </a:xfrm>
          <a:prstGeom prst="roundRect">
            <a:avLst/>
          </a:prstGeom>
          <a:solidFill>
            <a:srgbClr val="173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304288"/>
            <a:ext cx="29260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2CBECD"/>
                </a:solidFill>
                <a:latin typeface="Aptos"/>
              </a:rPr>
              <a:t>COMMUNITIES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24912"/>
            <a:ext cx="288036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Better visibility into expected demand.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62272" y="2057400"/>
            <a:ext cx="3337560" cy="1371600"/>
          </a:xfrm>
          <a:prstGeom prst="roundRect">
            <a:avLst/>
          </a:prstGeom>
          <a:solidFill>
            <a:srgbClr val="173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2304288"/>
            <a:ext cx="29260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2CBECD"/>
                </a:solidFill>
                <a:latin typeface="Aptos"/>
              </a:rPr>
              <a:t>CAMPUSES &amp; BUILDINGS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2724912"/>
            <a:ext cx="288036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Earlier review of unusual consumption.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11311" y="2057400"/>
            <a:ext cx="3337560" cy="1371600"/>
          </a:xfrm>
          <a:prstGeom prst="roundRect">
            <a:avLst/>
          </a:prstGeom>
          <a:solidFill>
            <a:srgbClr val="173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2304288"/>
            <a:ext cx="29260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2CBECD"/>
                </a:solidFill>
                <a:latin typeface="Aptos"/>
              </a:rPr>
              <a:t>RESOURCE TEAMS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724912"/>
            <a:ext cx="288036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Evidence to prioritize inspections and conservation.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3977639"/>
            <a:ext cx="1828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2CBECD"/>
                </a:solidFill>
                <a:latin typeface="Aptos"/>
              </a:rPr>
              <a:t>NEXT STEPS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407408"/>
            <a:ext cx="71323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1. Build a working dashboard using sample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846320"/>
            <a:ext cx="71323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2. Evaluate forecast quality on held-out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285232"/>
            <a:ext cx="71323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3. Gather feedback from a campus or facility team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66760" y="4069080"/>
            <a:ext cx="2926080" cy="1325880"/>
          </a:xfrm>
          <a:prstGeom prst="roundRect">
            <a:avLst/>
          </a:prstGeom>
          <a:solidFill>
            <a:srgbClr val="2C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0" y="4343400"/>
            <a:ext cx="24688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0D233A"/>
                </a:solidFill>
                <a:latin typeface="Aptos"/>
              </a:rPr>
              <a:t>TEAM WORKSPACE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4736592"/>
            <a:ext cx="246888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0D233A"/>
                </a:solidFill>
                <a:latin typeface="Aptos"/>
              </a:rPr>
              <a:t>Add team name + member names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5897880"/>
            <a:ext cx="1042416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D7EFF5"/>
                </a:solidFill>
                <a:latin typeface="Aptos"/>
              </a:rPr>
              <a:t>AquaPredict AI is a concept proposal. Actual savings and prediction accuracy must be validated through testing.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6309360"/>
            <a:ext cx="9144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D7EFF5"/>
                </a:solidFill>
                <a:latin typeface="Aptos"/>
              </a:rPr>
              <a:t>06 / 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